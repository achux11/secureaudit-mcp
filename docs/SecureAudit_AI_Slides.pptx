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Lora"/>
      <p:regular r:id="rId17"/>
    </p:embeddedFont>
    <p:embeddedFont>
      <p:font typeface="Lora"/>
      <p:regular r:id="rId18"/>
    </p:embeddedFont>
    <p:embeddedFont>
      <p:font typeface="Lora"/>
      <p:regular r:id="rId19"/>
    </p:embeddedFont>
    <p:embeddedFont>
      <p:font typeface="Lora"/>
      <p:regular r:id="rId20"/>
    </p:embeddedFont>
    <p:embeddedFont>
      <p:font typeface="Source Sans 3"/>
      <p:regular r:id="rId21"/>
    </p:embeddedFont>
    <p:embeddedFont>
      <p:font typeface="Source Sans 3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slideLayout" Target="../slideLayouts/slideLayout8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931914"/>
            <a:ext cx="7468553" cy="971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650"/>
              </a:lnSpc>
              <a:buNone/>
            </a:pPr>
            <a:r>
              <a:rPr lang="en-US" sz="61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SecureAudit AI</a:t>
            </a:r>
            <a:endParaRPr lang="en-US" sz="6100" dirty="0"/>
          </a:p>
        </p:txBody>
      </p:sp>
      <p:sp>
        <p:nvSpPr>
          <p:cNvPr id="4" name="Text 1"/>
          <p:cNvSpPr/>
          <p:nvPr/>
        </p:nvSpPr>
        <p:spPr>
          <a:xfrm>
            <a:off x="837724" y="4262438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37724" y="4914662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Created By : The Buzz Lightyears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704261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Core Problem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2767251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Financial auditing requires advanced AI pattern recognition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37724" y="3419475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Cloud-based AI → forces data upload → privacy risk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37724" y="4071699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Regulations like GDPR, CCPA, SOC2 prohibit data leakage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37724" y="4723924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Organizations face a trade-off: Secure but weak local tools OR Powerful but risky cloud AI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37724" y="5759172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 Insight: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You cannot send financial data outside — but AI needs access to it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720453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Why This Matters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2903220"/>
            <a:ext cx="4158734" cy="1357193"/>
          </a:xfrm>
          <a:prstGeom prst="roundRect">
            <a:avLst>
              <a:gd name="adj" fmla="val 2646"/>
            </a:avLst>
          </a:prstGeom>
          <a:solidFill>
            <a:srgbClr val="F3E7D4"/>
          </a:solidFill>
          <a:ln/>
        </p:spPr>
      </p:sp>
      <p:sp>
        <p:nvSpPr>
          <p:cNvPr id="4" name="Text 2"/>
          <p:cNvSpPr/>
          <p:nvPr/>
        </p:nvSpPr>
        <p:spPr>
          <a:xfrm>
            <a:off x="1077039" y="314253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Compliance Risk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77039" y="3638074"/>
            <a:ext cx="368010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Regulatory fines + legal exposure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5235773" y="2903220"/>
            <a:ext cx="4158734" cy="1357193"/>
          </a:xfrm>
          <a:prstGeom prst="roundRect">
            <a:avLst>
              <a:gd name="adj" fmla="val 2646"/>
            </a:avLst>
          </a:prstGeom>
          <a:solidFill>
            <a:srgbClr val="F3E7D4"/>
          </a:solidFill>
          <a:ln/>
        </p:spPr>
      </p:sp>
      <p:sp>
        <p:nvSpPr>
          <p:cNvPr id="7" name="Text 5"/>
          <p:cNvSpPr/>
          <p:nvPr/>
        </p:nvSpPr>
        <p:spPr>
          <a:xfrm>
            <a:off x="5475089" y="314253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Breach Risk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75089" y="3638074"/>
            <a:ext cx="368010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Sensitive financial leaks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9633823" y="2903220"/>
            <a:ext cx="4158853" cy="1357193"/>
          </a:xfrm>
          <a:prstGeom prst="roundRect">
            <a:avLst>
              <a:gd name="adj" fmla="val 2646"/>
            </a:avLst>
          </a:prstGeom>
          <a:solidFill>
            <a:srgbClr val="F3E7D4"/>
          </a:solidFill>
          <a:ln/>
        </p:spPr>
      </p:sp>
      <p:sp>
        <p:nvSpPr>
          <p:cNvPr id="10" name="Text 8"/>
          <p:cNvSpPr/>
          <p:nvPr/>
        </p:nvSpPr>
        <p:spPr>
          <a:xfrm>
            <a:off x="9873139" y="3142536"/>
            <a:ext cx="3172182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Operational Inefficiency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73139" y="3638074"/>
            <a:ext cx="368022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Manual audits = slow &amp; error-prone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837724" y="4499729"/>
            <a:ext cx="12954952" cy="1357193"/>
          </a:xfrm>
          <a:prstGeom prst="roundRect">
            <a:avLst>
              <a:gd name="adj" fmla="val 2646"/>
            </a:avLst>
          </a:prstGeom>
          <a:solidFill>
            <a:srgbClr val="F3E7D4"/>
          </a:solidFill>
          <a:ln/>
        </p:spPr>
      </p:sp>
      <p:sp>
        <p:nvSpPr>
          <p:cNvPr id="13" name="Text 11"/>
          <p:cNvSpPr/>
          <p:nvPr/>
        </p:nvSpPr>
        <p:spPr>
          <a:xfrm>
            <a:off x="1077039" y="473904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Loss of Trust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77039" y="5234583"/>
            <a:ext cx="1247632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Stakeholders demand zero-trust systems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837724" y="6126123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Current systems force companies to choose between intelligence and security.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578888"/>
            <a:ext cx="6236494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SecureAudit AI Solution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378631"/>
            <a:ext cx="9566672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Bring compute to data — not data to compute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837724" y="3300889"/>
            <a:ext cx="4158734" cy="2697599"/>
          </a:xfrm>
          <a:prstGeom prst="roundRect">
            <a:avLst>
              <a:gd name="adj" fmla="val 1331"/>
            </a:avLst>
          </a:prstGeom>
          <a:solidFill>
            <a:srgbClr val="F3E7D4"/>
          </a:solidFill>
          <a:ln/>
        </p:spPr>
      </p:sp>
      <p:sp>
        <p:nvSpPr>
          <p:cNvPr id="5" name="Shape 3"/>
          <p:cNvSpPr/>
          <p:nvPr/>
        </p:nvSpPr>
        <p:spPr>
          <a:xfrm>
            <a:off x="1077039" y="3540204"/>
            <a:ext cx="718066" cy="718066"/>
          </a:xfrm>
          <a:prstGeom prst="roundRect">
            <a:avLst>
              <a:gd name="adj" fmla="val 12732932"/>
            </a:avLst>
          </a:prstGeom>
          <a:solidFill>
            <a:srgbClr val="38512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74445" y="3737610"/>
            <a:ext cx="323136" cy="3231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7039" y="449758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Sovereignty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77039" y="4993124"/>
            <a:ext cx="368010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never leaves local environment</a:t>
            </a:r>
            <a:endParaRPr lang="en-US" sz="1850" dirty="0"/>
          </a:p>
        </p:txBody>
      </p:sp>
      <p:sp>
        <p:nvSpPr>
          <p:cNvPr id="9" name="Shape 6"/>
          <p:cNvSpPr/>
          <p:nvPr/>
        </p:nvSpPr>
        <p:spPr>
          <a:xfrm>
            <a:off x="5235773" y="3300889"/>
            <a:ext cx="4158734" cy="2697599"/>
          </a:xfrm>
          <a:prstGeom prst="roundRect">
            <a:avLst>
              <a:gd name="adj" fmla="val 1331"/>
            </a:avLst>
          </a:prstGeom>
          <a:solidFill>
            <a:srgbClr val="F3E7D4"/>
          </a:solidFill>
          <a:ln/>
        </p:spPr>
      </p:sp>
      <p:sp>
        <p:nvSpPr>
          <p:cNvPr id="10" name="Shape 7"/>
          <p:cNvSpPr/>
          <p:nvPr/>
        </p:nvSpPr>
        <p:spPr>
          <a:xfrm>
            <a:off x="5475089" y="3540204"/>
            <a:ext cx="718066" cy="718066"/>
          </a:xfrm>
          <a:prstGeom prst="roundRect">
            <a:avLst>
              <a:gd name="adj" fmla="val 12732932"/>
            </a:avLst>
          </a:prstGeom>
          <a:solidFill>
            <a:srgbClr val="38512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72495" y="3737610"/>
            <a:ext cx="323136" cy="3231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75089" y="449758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AI-Powered Analysis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5475089" y="4993124"/>
            <a:ext cx="368010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LLM analyzes sanitized metadata only</a:t>
            </a:r>
            <a:endParaRPr lang="en-US" sz="1850" dirty="0"/>
          </a:p>
        </p:txBody>
      </p:sp>
      <p:sp>
        <p:nvSpPr>
          <p:cNvPr id="14" name="Shape 10"/>
          <p:cNvSpPr/>
          <p:nvPr/>
        </p:nvSpPr>
        <p:spPr>
          <a:xfrm>
            <a:off x="9633823" y="3300889"/>
            <a:ext cx="4158853" cy="2697599"/>
          </a:xfrm>
          <a:prstGeom prst="roundRect">
            <a:avLst>
              <a:gd name="adj" fmla="val 1331"/>
            </a:avLst>
          </a:prstGeom>
          <a:solidFill>
            <a:srgbClr val="F3E7D4"/>
          </a:solidFill>
          <a:ln/>
        </p:spPr>
      </p:sp>
      <p:sp>
        <p:nvSpPr>
          <p:cNvPr id="15" name="Shape 11"/>
          <p:cNvSpPr/>
          <p:nvPr/>
        </p:nvSpPr>
        <p:spPr>
          <a:xfrm>
            <a:off x="9873139" y="3540204"/>
            <a:ext cx="718066" cy="718066"/>
          </a:xfrm>
          <a:prstGeom prst="roundRect">
            <a:avLst>
              <a:gd name="adj" fmla="val 12732932"/>
            </a:avLst>
          </a:prstGeom>
          <a:solidFill>
            <a:srgbClr val="38512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70544" y="3737610"/>
            <a:ext cx="323136" cy="3231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73139" y="4497586"/>
            <a:ext cx="300132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MCP Filtering Gateway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9873139" y="4993124"/>
            <a:ext cx="368022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Removes PII before AI sees data</a:t>
            </a:r>
            <a:endParaRPr lang="en-US" sz="1850" dirty="0"/>
          </a:p>
        </p:txBody>
      </p:sp>
      <p:sp>
        <p:nvSpPr>
          <p:cNvPr id="19" name="Text 14"/>
          <p:cNvSpPr/>
          <p:nvPr/>
        </p:nvSpPr>
        <p:spPr>
          <a:xfrm>
            <a:off x="837724" y="6267688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 Value: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AI insights + No data exposure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720453"/>
            <a:ext cx="6869549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Why Our Approach Works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2903220"/>
            <a:ext cx="6357818" cy="1357193"/>
          </a:xfrm>
          <a:prstGeom prst="roundRect">
            <a:avLst>
              <a:gd name="adj" fmla="val 2646"/>
            </a:avLst>
          </a:prstGeom>
          <a:solidFill>
            <a:srgbClr val="F3E7D4"/>
          </a:solidFill>
          <a:ln/>
        </p:spPr>
      </p:sp>
      <p:sp>
        <p:nvSpPr>
          <p:cNvPr id="4" name="Text 2"/>
          <p:cNvSpPr/>
          <p:nvPr/>
        </p:nvSpPr>
        <p:spPr>
          <a:xfrm>
            <a:off x="1077039" y="3142536"/>
            <a:ext cx="3047524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Regulatory Compliance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77039" y="3638074"/>
            <a:ext cx="58791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Meets GDPR, CCPA, SOC2 requirements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7434858" y="2903220"/>
            <a:ext cx="6357818" cy="1357193"/>
          </a:xfrm>
          <a:prstGeom prst="roundRect">
            <a:avLst>
              <a:gd name="adj" fmla="val 2646"/>
            </a:avLst>
          </a:prstGeom>
          <a:solidFill>
            <a:srgbClr val="F3E7D4"/>
          </a:solidFill>
          <a:ln/>
        </p:spPr>
      </p:sp>
      <p:sp>
        <p:nvSpPr>
          <p:cNvPr id="7" name="Text 5"/>
          <p:cNvSpPr/>
          <p:nvPr/>
        </p:nvSpPr>
        <p:spPr>
          <a:xfrm>
            <a:off x="7674173" y="314253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High Intelligence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74173" y="3638074"/>
            <a:ext cx="58791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Uses LLM pattern detection safely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837724" y="4499729"/>
            <a:ext cx="6357818" cy="1357193"/>
          </a:xfrm>
          <a:prstGeom prst="roundRect">
            <a:avLst>
              <a:gd name="adj" fmla="val 2646"/>
            </a:avLst>
          </a:prstGeom>
          <a:solidFill>
            <a:srgbClr val="F3E7D4"/>
          </a:solidFill>
          <a:ln/>
        </p:spPr>
      </p:sp>
      <p:sp>
        <p:nvSpPr>
          <p:cNvPr id="10" name="Text 8"/>
          <p:cNvSpPr/>
          <p:nvPr/>
        </p:nvSpPr>
        <p:spPr>
          <a:xfrm>
            <a:off x="1077039" y="473904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Full Data Control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77039" y="5234583"/>
            <a:ext cx="58791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Organization owns all data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7434858" y="4499729"/>
            <a:ext cx="6357818" cy="1357193"/>
          </a:xfrm>
          <a:prstGeom prst="roundRect">
            <a:avLst>
              <a:gd name="adj" fmla="val 2646"/>
            </a:avLst>
          </a:prstGeom>
          <a:solidFill>
            <a:srgbClr val="F3E7D4"/>
          </a:solidFill>
          <a:ln/>
        </p:spPr>
      </p:sp>
      <p:sp>
        <p:nvSpPr>
          <p:cNvPr id="13" name="Text 11"/>
          <p:cNvSpPr/>
          <p:nvPr/>
        </p:nvSpPr>
        <p:spPr>
          <a:xfrm>
            <a:off x="7674173" y="473904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Scalable Architecture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74173" y="5234583"/>
            <a:ext cx="58791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Easily extend to new systems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837724" y="6126123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 eliminate the trade-off between AI power and data privacy.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297186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System Architecture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096929"/>
            <a:ext cx="12954952" cy="1126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Model Context Protocol (MCP) enables secure LLM interaction with local data</a:t>
            </a:r>
            <a:endParaRPr lang="en-US" sz="3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724" y="3582472"/>
            <a:ext cx="4318278" cy="9575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7039" y="477928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Local Data Layer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77039" y="5274826"/>
            <a:ext cx="383964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CSV, JSON logs, ERP exports stored securely on local system</a:t>
            </a:r>
            <a:endParaRPr lang="en-US" sz="18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6002" y="3582472"/>
            <a:ext cx="4318278" cy="95750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95317" y="4779288"/>
            <a:ext cx="376999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MCP Layer (Core Innovation)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395317" y="5274826"/>
            <a:ext cx="383964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Acts as Filtering Gateway, PII Scrubber, Tool Mapper</a:t>
            </a:r>
            <a:endParaRPr lang="en-US" sz="18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4279" y="3582472"/>
            <a:ext cx="4318278" cy="95750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713595" y="477928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Analysis Engine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9713595" y="5274826"/>
            <a:ext cx="383964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Local or cloud LLM receives sanitized context only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837724" y="6549390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MCP acts as a secure bridge between AI and sensitive data.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50802" y="668298"/>
            <a:ext cx="5496282" cy="512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How It Works (Step-by-Step)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825228" y="1696998"/>
            <a:ext cx="174427" cy="784979"/>
          </a:xfrm>
          <a:prstGeom prst="roundRect">
            <a:avLst>
              <a:gd name="adj" fmla="val 15002"/>
            </a:avLst>
          </a:prstGeom>
          <a:solidFill>
            <a:srgbClr val="F3E7D4"/>
          </a:solidFill>
          <a:ln/>
        </p:spPr>
      </p:sp>
      <p:sp>
        <p:nvSpPr>
          <p:cNvPr id="4" name="Shape 2"/>
          <p:cNvSpPr/>
          <p:nvPr/>
        </p:nvSpPr>
        <p:spPr>
          <a:xfrm>
            <a:off x="1650802" y="1582579"/>
            <a:ext cx="523280" cy="523280"/>
          </a:xfrm>
          <a:prstGeom prst="roundRect">
            <a:avLst>
              <a:gd name="adj" fmla="val 87372"/>
            </a:avLst>
          </a:prstGeom>
          <a:solidFill>
            <a:srgbClr val="F3E7D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1651" y="1713428"/>
            <a:ext cx="261580" cy="2615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301121" y="1609844"/>
            <a:ext cx="2052280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User Prompt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301121" y="1942624"/>
            <a:ext cx="10678478" cy="241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user asks, “Find duplicate invoices in Q3.”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2086808" y="2870716"/>
            <a:ext cx="174427" cy="784979"/>
          </a:xfrm>
          <a:prstGeom prst="roundRect">
            <a:avLst>
              <a:gd name="adj" fmla="val 15002"/>
            </a:avLst>
          </a:prstGeom>
          <a:solidFill>
            <a:srgbClr val="F3E7D4"/>
          </a:solidFill>
          <a:ln/>
        </p:spPr>
      </p:sp>
      <p:sp>
        <p:nvSpPr>
          <p:cNvPr id="9" name="Shape 6"/>
          <p:cNvSpPr/>
          <p:nvPr/>
        </p:nvSpPr>
        <p:spPr>
          <a:xfrm>
            <a:off x="1912382" y="2756297"/>
            <a:ext cx="523280" cy="523280"/>
          </a:xfrm>
          <a:prstGeom prst="roundRect">
            <a:avLst>
              <a:gd name="adj" fmla="val 87372"/>
            </a:avLst>
          </a:prstGeom>
          <a:solidFill>
            <a:srgbClr val="F3E7D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43232" y="2887147"/>
            <a:ext cx="261580" cy="2615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562701" y="2783562"/>
            <a:ext cx="2052280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Tool Mapping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2562701" y="3116342"/>
            <a:ext cx="10416897" cy="241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MCP maps the request to the audit tool.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2348508" y="4044434"/>
            <a:ext cx="174427" cy="784979"/>
          </a:xfrm>
          <a:prstGeom prst="roundRect">
            <a:avLst>
              <a:gd name="adj" fmla="val 15002"/>
            </a:avLst>
          </a:prstGeom>
          <a:solidFill>
            <a:srgbClr val="F3E7D4"/>
          </a:solidFill>
          <a:ln/>
        </p:spPr>
      </p:sp>
      <p:sp>
        <p:nvSpPr>
          <p:cNvPr id="14" name="Shape 10"/>
          <p:cNvSpPr/>
          <p:nvPr/>
        </p:nvSpPr>
        <p:spPr>
          <a:xfrm>
            <a:off x="2174081" y="3930015"/>
            <a:ext cx="523280" cy="523280"/>
          </a:xfrm>
          <a:prstGeom prst="roundRect">
            <a:avLst>
              <a:gd name="adj" fmla="val 87372"/>
            </a:avLst>
          </a:prstGeom>
          <a:solidFill>
            <a:srgbClr val="F3E7D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04931" y="4060865"/>
            <a:ext cx="261580" cy="2615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824401" y="3957280"/>
            <a:ext cx="2052280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Local Execution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2824401" y="4290060"/>
            <a:ext cx="10155198" cy="241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data is processed locally, and PII is removed.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2610207" y="5218152"/>
            <a:ext cx="174427" cy="784979"/>
          </a:xfrm>
          <a:prstGeom prst="roundRect">
            <a:avLst>
              <a:gd name="adj" fmla="val 15002"/>
            </a:avLst>
          </a:prstGeom>
          <a:solidFill>
            <a:srgbClr val="F3E7D4"/>
          </a:solidFill>
          <a:ln/>
        </p:spPr>
      </p:sp>
      <p:sp>
        <p:nvSpPr>
          <p:cNvPr id="19" name="Shape 14"/>
          <p:cNvSpPr/>
          <p:nvPr/>
        </p:nvSpPr>
        <p:spPr>
          <a:xfrm>
            <a:off x="2435781" y="5103733"/>
            <a:ext cx="523280" cy="523280"/>
          </a:xfrm>
          <a:prstGeom prst="roundRect">
            <a:avLst>
              <a:gd name="adj" fmla="val 87372"/>
            </a:avLst>
          </a:prstGeom>
          <a:solidFill>
            <a:srgbClr val="F3E7D4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66630" y="5234583"/>
            <a:ext cx="261580" cy="2615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086100" y="5130998"/>
            <a:ext cx="2052280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Context Injection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3086100" y="5463778"/>
            <a:ext cx="9893498" cy="241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Clean data is sent to the LLM.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2348508" y="6391870"/>
            <a:ext cx="174427" cy="784979"/>
          </a:xfrm>
          <a:prstGeom prst="roundRect">
            <a:avLst>
              <a:gd name="adj" fmla="val 15002"/>
            </a:avLst>
          </a:prstGeom>
          <a:solidFill>
            <a:srgbClr val="F3E7D4"/>
          </a:solidFill>
          <a:ln/>
        </p:spPr>
      </p:sp>
      <p:sp>
        <p:nvSpPr>
          <p:cNvPr id="24" name="Shape 18"/>
          <p:cNvSpPr/>
          <p:nvPr/>
        </p:nvSpPr>
        <p:spPr>
          <a:xfrm>
            <a:off x="2174081" y="6277451"/>
            <a:ext cx="523280" cy="523280"/>
          </a:xfrm>
          <a:prstGeom prst="roundRect">
            <a:avLst>
              <a:gd name="adj" fmla="val 87372"/>
            </a:avLst>
          </a:prstGeom>
          <a:solidFill>
            <a:srgbClr val="F3E7D4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304931" y="6408301"/>
            <a:ext cx="261580" cy="2615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2824401" y="6304717"/>
            <a:ext cx="2052280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Pattern Analysis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2824401" y="6637496"/>
            <a:ext cx="10155198" cy="241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LLM returns insights.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650802" y="7319963"/>
            <a:ext cx="11328797" cy="241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AI never sees raw financial data.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830699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Use Cases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2013466"/>
            <a:ext cx="12954952" cy="1418153"/>
          </a:xfrm>
          <a:prstGeom prst="roundRect">
            <a:avLst>
              <a:gd name="adj" fmla="val 10317"/>
            </a:avLst>
          </a:prstGeom>
          <a:solidFill>
            <a:srgbClr val="FEF5E7"/>
          </a:solidFill>
          <a:ln w="30480">
            <a:solidFill>
              <a:srgbClr val="D9CDB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7244" y="2013466"/>
            <a:ext cx="121920" cy="1418153"/>
          </a:xfrm>
          <a:prstGeom prst="roundRect">
            <a:avLst>
              <a:gd name="adj" fmla="val 29451"/>
            </a:avLst>
          </a:prstGeom>
          <a:solidFill>
            <a:srgbClr val="38512F"/>
          </a:solidFill>
          <a:ln/>
        </p:spPr>
      </p:sp>
      <p:sp>
        <p:nvSpPr>
          <p:cNvPr id="5" name="Text 3"/>
          <p:cNvSpPr/>
          <p:nvPr/>
        </p:nvSpPr>
        <p:spPr>
          <a:xfrm>
            <a:off x="1198959" y="2283262"/>
            <a:ext cx="3639622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Duplicate Invoice Detection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98959" y="2778800"/>
            <a:ext cx="1232392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Finds fraud and errors across systems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837724" y="3670935"/>
            <a:ext cx="12954952" cy="1418153"/>
          </a:xfrm>
          <a:prstGeom prst="roundRect">
            <a:avLst>
              <a:gd name="adj" fmla="val 10317"/>
            </a:avLst>
          </a:prstGeom>
          <a:solidFill>
            <a:srgbClr val="FEF5E7"/>
          </a:solidFill>
          <a:ln w="30480">
            <a:solidFill>
              <a:srgbClr val="D9CDB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7244" y="3670935"/>
            <a:ext cx="121920" cy="1418153"/>
          </a:xfrm>
          <a:prstGeom prst="roundRect">
            <a:avLst>
              <a:gd name="adj" fmla="val 29451"/>
            </a:avLst>
          </a:prstGeom>
          <a:solidFill>
            <a:srgbClr val="38512F"/>
          </a:solidFill>
          <a:ln/>
        </p:spPr>
      </p:sp>
      <p:sp>
        <p:nvSpPr>
          <p:cNvPr id="9" name="Text 7"/>
          <p:cNvSpPr/>
          <p:nvPr/>
        </p:nvSpPr>
        <p:spPr>
          <a:xfrm>
            <a:off x="1198959" y="3940731"/>
            <a:ext cx="412492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Unauthorized Access Detection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98959" y="4436269"/>
            <a:ext cx="1232392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Detects suspicious permission changes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837724" y="5328404"/>
            <a:ext cx="12954952" cy="1418153"/>
          </a:xfrm>
          <a:prstGeom prst="roundRect">
            <a:avLst>
              <a:gd name="adj" fmla="val 10317"/>
            </a:avLst>
          </a:prstGeom>
          <a:solidFill>
            <a:srgbClr val="FEF5E7"/>
          </a:solidFill>
          <a:ln w="30480">
            <a:solidFill>
              <a:srgbClr val="D9CDB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7244" y="5328404"/>
            <a:ext cx="121920" cy="1418153"/>
          </a:xfrm>
          <a:prstGeom prst="roundRect">
            <a:avLst>
              <a:gd name="adj" fmla="val 29451"/>
            </a:avLst>
          </a:prstGeom>
          <a:solidFill>
            <a:srgbClr val="38512F"/>
          </a:solidFill>
          <a:ln/>
        </p:spPr>
      </p:sp>
      <p:sp>
        <p:nvSpPr>
          <p:cNvPr id="13" name="Text 11"/>
          <p:cNvSpPr/>
          <p:nvPr/>
        </p:nvSpPr>
        <p:spPr>
          <a:xfrm>
            <a:off x="1198959" y="5598200"/>
            <a:ext cx="3104317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Compliance Monitoring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98959" y="6093738"/>
            <a:ext cx="1232392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Flags SOC2 violations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837724" y="7015758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These problems are high-value and cannot be solved using cloud AI today.</a:t>
            </a:r>
            <a:endParaRPr lang="en-US" sz="1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450777"/>
            <a:ext cx="6842522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Technical Implementation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250519"/>
            <a:ext cx="8911114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Built for enterprise security and scalability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837724" y="3172778"/>
            <a:ext cx="4158734" cy="1357193"/>
          </a:xfrm>
          <a:prstGeom prst="roundRect">
            <a:avLst>
              <a:gd name="adj" fmla="val 2646"/>
            </a:avLst>
          </a:prstGeom>
          <a:solidFill>
            <a:srgbClr val="F3E7D4"/>
          </a:solidFill>
          <a:ln/>
        </p:spPr>
      </p:sp>
      <p:sp>
        <p:nvSpPr>
          <p:cNvPr id="5" name="Text 3"/>
          <p:cNvSpPr/>
          <p:nvPr/>
        </p:nvSpPr>
        <p:spPr>
          <a:xfrm>
            <a:off x="1077039" y="341209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Python + FastAPI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77039" y="3907631"/>
            <a:ext cx="368010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Local dashboard and API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5235773" y="3172778"/>
            <a:ext cx="4158734" cy="1357193"/>
          </a:xfrm>
          <a:prstGeom prst="roundRect">
            <a:avLst>
              <a:gd name="adj" fmla="val 2646"/>
            </a:avLst>
          </a:prstGeom>
          <a:solidFill>
            <a:srgbClr val="F3E7D4"/>
          </a:solidFill>
          <a:ln/>
        </p:spPr>
      </p:sp>
      <p:sp>
        <p:nvSpPr>
          <p:cNvPr id="8" name="Text 6"/>
          <p:cNvSpPr/>
          <p:nvPr/>
        </p:nvSpPr>
        <p:spPr>
          <a:xfrm>
            <a:off x="5475089" y="341209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MCP Server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75089" y="3907631"/>
            <a:ext cx="368010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Tool-based AI interaction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9633823" y="3172778"/>
            <a:ext cx="4158853" cy="1357193"/>
          </a:xfrm>
          <a:prstGeom prst="roundRect">
            <a:avLst>
              <a:gd name="adj" fmla="val 2646"/>
            </a:avLst>
          </a:prstGeom>
          <a:solidFill>
            <a:srgbClr val="F3E7D4"/>
          </a:solidFill>
          <a:ln/>
        </p:spPr>
      </p:sp>
      <p:sp>
        <p:nvSpPr>
          <p:cNvPr id="11" name="Text 9"/>
          <p:cNvSpPr/>
          <p:nvPr/>
        </p:nvSpPr>
        <p:spPr>
          <a:xfrm>
            <a:off x="9873139" y="341209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PII Scrubbing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873139" y="3907631"/>
            <a:ext cx="368022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Regex-based anonymization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837724" y="4769287"/>
            <a:ext cx="6357818" cy="1357193"/>
          </a:xfrm>
          <a:prstGeom prst="roundRect">
            <a:avLst>
              <a:gd name="adj" fmla="val 2646"/>
            </a:avLst>
          </a:prstGeom>
          <a:solidFill>
            <a:srgbClr val="F3E7D4"/>
          </a:solidFill>
          <a:ln/>
        </p:spPr>
      </p:sp>
      <p:sp>
        <p:nvSpPr>
          <p:cNvPr id="14" name="Text 12"/>
          <p:cNvSpPr/>
          <p:nvPr/>
        </p:nvSpPr>
        <p:spPr>
          <a:xfrm>
            <a:off x="1077039" y="500860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Privacy Proxy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77039" y="5504140"/>
            <a:ext cx="58791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Blocks unsafe data sharing</a:t>
            </a:r>
            <a:endParaRPr lang="en-US" sz="1850" dirty="0"/>
          </a:p>
        </p:txBody>
      </p:sp>
      <p:sp>
        <p:nvSpPr>
          <p:cNvPr id="16" name="Shape 14"/>
          <p:cNvSpPr/>
          <p:nvPr/>
        </p:nvSpPr>
        <p:spPr>
          <a:xfrm>
            <a:off x="7434858" y="4769287"/>
            <a:ext cx="6357818" cy="1357193"/>
          </a:xfrm>
          <a:prstGeom prst="roundRect">
            <a:avLst>
              <a:gd name="adj" fmla="val 2646"/>
            </a:avLst>
          </a:prstGeom>
          <a:solidFill>
            <a:srgbClr val="F3E7D4"/>
          </a:solidFill>
          <a:ln/>
        </p:spPr>
      </p:sp>
      <p:sp>
        <p:nvSpPr>
          <p:cNvPr id="17" name="Text 15"/>
          <p:cNvSpPr/>
          <p:nvPr/>
        </p:nvSpPr>
        <p:spPr>
          <a:xfrm>
            <a:off x="7674173" y="500860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HTTP Webhooks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674173" y="5504140"/>
            <a:ext cx="58791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Secure alerts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837724" y="6395680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 is optional — system works even without LLM.</a:t>
            </a:r>
            <a:endParaRPr lang="en-US" sz="1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528882"/>
            <a:ext cx="6545699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Expected Impact &amp; Value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2711648"/>
            <a:ext cx="6357818" cy="1740218"/>
          </a:xfrm>
          <a:prstGeom prst="roundRect">
            <a:avLst>
              <a:gd name="adj" fmla="val 2063"/>
            </a:avLst>
          </a:prstGeom>
          <a:solidFill>
            <a:srgbClr val="F3E7D4"/>
          </a:solidFill>
          <a:ln/>
        </p:spPr>
      </p:sp>
      <p:sp>
        <p:nvSpPr>
          <p:cNvPr id="4" name="Text 2"/>
          <p:cNvSpPr/>
          <p:nvPr/>
        </p:nvSpPr>
        <p:spPr>
          <a:xfrm>
            <a:off x="1077039" y="295096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AI-Powered Auditing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77039" y="3446502"/>
            <a:ext cx="58791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Delivers sophisticated fraud detection and compliance auditing without privacy risk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7434858" y="2711648"/>
            <a:ext cx="6357818" cy="1740218"/>
          </a:xfrm>
          <a:prstGeom prst="roundRect">
            <a:avLst>
              <a:gd name="adj" fmla="val 2063"/>
            </a:avLst>
          </a:prstGeom>
          <a:solidFill>
            <a:srgbClr val="F3E7D4"/>
          </a:solidFill>
          <a:ln/>
        </p:spPr>
      </p:sp>
      <p:sp>
        <p:nvSpPr>
          <p:cNvPr id="7" name="Text 5"/>
          <p:cNvSpPr/>
          <p:nvPr/>
        </p:nvSpPr>
        <p:spPr>
          <a:xfrm>
            <a:off x="7674173" y="295096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100% Data Control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74173" y="3446502"/>
            <a:ext cx="58791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Maintains a true zero-trust posture, keeping sensitive financial data fully under your control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837724" y="4691182"/>
            <a:ext cx="12954952" cy="1357193"/>
          </a:xfrm>
          <a:prstGeom prst="roundRect">
            <a:avLst>
              <a:gd name="adj" fmla="val 2646"/>
            </a:avLst>
          </a:prstGeom>
          <a:solidFill>
            <a:srgbClr val="F3E7D4"/>
          </a:solidFill>
          <a:ln/>
        </p:spPr>
      </p:sp>
      <p:sp>
        <p:nvSpPr>
          <p:cNvPr id="10" name="Text 8"/>
          <p:cNvSpPr/>
          <p:nvPr/>
        </p:nvSpPr>
        <p:spPr>
          <a:xfrm>
            <a:off x="1077039" y="4930497"/>
            <a:ext cx="3779282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Faster, More Accurate Audits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77039" y="5426035"/>
            <a:ext cx="1247632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Scales to real-time financial systems, including bank feeds and encrypted cloud storage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837724" y="6317575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SecureAudit AI proves that privacy and intelligence can coexist.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2026-04-01T08:13:58Z</dcterms:created>
  <dcterms:modified xsi:type="dcterms:W3CDTF">2026-04-01T08:13:58Z</dcterms:modified>
</cp:coreProperties>
</file>